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9728" cy="4114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06B6D4"/>
                </a:solidFill>
              </a:defRPr>
            </a:pPr>
            <a:r>
              <a:t>ARTIFICIAL INTELLIGENCE &amp; NATURAL LANGUAGE PROCESSING</a:t>
            </a:r>
          </a:p>
          <a:p>
            <a:pPr>
              <a:spcAft>
                <a:spcPts val="1600"/>
              </a:spcAft>
              <a:defRPr sz="3800" b="1">
                <a:solidFill>
                  <a:srgbClr val="F8FAFC"/>
                </a:solidFill>
              </a:defRPr>
            </a:pPr>
            <a:r>
              <a:t>Smart Study Notes Generator</a:t>
            </a:r>
          </a:p>
          <a:p>
            <a:pPr>
              <a:spcAft>
                <a:spcPts val="2000"/>
              </a:spcAft>
              <a:defRPr sz="1600">
                <a:solidFill>
                  <a:srgbClr val="94A3B8"/>
                </a:solidFill>
              </a:defRPr>
            </a:pPr>
            <a:r>
              <a:t>An AI-powered academic summarization tool that distills complex paragraphs into concise study notes, extracts key conceptual takeaways, and analyzes quantitative text reduction metrics.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297680"/>
            <a:ext cx="10058400" cy="1645920"/>
          </a:xfrm>
          <a:prstGeom prst="roundRect">
            <a:avLst/>
          </a:prstGeom>
          <a:solidFill>
            <a:srgbClr val="172036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spcAft>
                <a:spcPts val="800"/>
              </a:spcAft>
              <a:defRPr sz="1100" b="1">
                <a:solidFill>
                  <a:srgbClr val="10B981"/>
                </a:solidFill>
              </a:defRPr>
            </a:pPr>
            <a:r>
              <a:t>PROJECT METADATA &amp; SUBMISSION DETAILS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Candidate Mode: Individual Mini Project (Not Group)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Core Technology: Pre-trained Generative AI (Hugging Face Transformers / BART &amp; FLAN-T5 Architecture)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Live Hosting: Deployed on Web Cloud (Vercel / Netlify) with Live Web Access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●  01. PROJECT MOTIVATION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Problem Statement &amp; Proposed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72036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1200"/>
              </a:spcAft>
              <a:defRPr sz="1400" b="1">
                <a:solidFill>
                  <a:srgbClr val="F59E0B"/>
                </a:solidFill>
              </a:defRPr>
            </a:pPr>
            <a:r>
              <a:t>THE PROBLEM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Information Overload: Academic textbooks and technical papers contain dense, repetitive text that requires substantial cognitive effort to review during exams.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Inefficient Manual Note-Taking: Students spend hours highlighting and rewriting paragraphs rather than actively learning core concepts.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• Lack of Quantitative Assessment: Existing tools rarely quantify how much text was reduced or whether core conceptual fidelity was preserved.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480560"/>
          </a:xfrm>
          <a:prstGeom prst="roundRect">
            <a:avLst/>
          </a:prstGeom>
          <a:solidFill>
            <a:srgbClr val="172036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1200"/>
              </a:spcAft>
              <a:defRPr sz="1400" b="1">
                <a:solidFill>
                  <a:srgbClr val="10B981"/>
                </a:solidFill>
              </a:defRPr>
            </a:pPr>
            <a:r>
              <a:t>THE SMART STUDY SOLUTION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✓ Pre-trained Generative AI: Utilizes state-of-the-art transformer models (BART / T5) trained on millions of documents for high-coherence summarization.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✓ Automated Key Points Extraction: Identifies primary definitions, critical causal relations, and mechanisms into rapid bullet points.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✓ Real-Time Analytics Engine: Computes exact original word count, summary word count, and text reduction percentage automatically.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✓ One-Click Study Export: Allows instantaneous clipboard copying and `.txt` file downloading for study routines.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●  02. SYSTEM DESIGN &amp;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System Architecture &amp; Technologies Used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2926080"/>
          </a:xfrm>
          <a:prstGeom prst="roundRect">
            <a:avLst/>
          </a:prstGeom>
          <a:solidFill>
            <a:srgbClr val="172036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spcAft>
                <a:spcPts val="1000"/>
              </a:spcAft>
              <a:defRPr sz="1300" b="1">
                <a:solidFill>
                  <a:srgbClr val="6366F1"/>
                </a:solidFill>
              </a:defRPr>
            </a:pPr>
            <a:r>
              <a:t>1. Input Layer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Accepts user study paragraph via Web Interface or Python CLI. Computes live word &amp; character telemetry.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560320" cy="2926080"/>
          </a:xfrm>
          <a:prstGeom prst="roundRect">
            <a:avLst/>
          </a:prstGeom>
          <a:solidFill>
            <a:srgbClr val="172036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spcAft>
                <a:spcPts val="1000"/>
              </a:spcAft>
              <a:defRPr sz="1300" b="1">
                <a:solidFill>
                  <a:srgbClr val="06B6D4"/>
                </a:solidFill>
              </a:defRPr>
            </a:pPr>
            <a:r>
              <a:t>2. Generative AI Engine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Runs pre-trained Transformer pipeline (BART / FLAN-T5) to generate salient abstractive summary.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2560320" cy="2926080"/>
          </a:xfrm>
          <a:prstGeom prst="roundRect">
            <a:avLst/>
          </a:prstGeom>
          <a:solidFill>
            <a:srgbClr val="172036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spcAft>
                <a:spcPts val="1000"/>
              </a:spcAft>
              <a:defRPr sz="1300" b="1">
                <a:solidFill>
                  <a:srgbClr val="10B981"/>
                </a:solidFill>
              </a:defRPr>
            </a:pPr>
            <a:r>
              <a:t>3. Analytics Engine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Calculates original vs. summary word counts &amp; computes percentage reduction: ((orig-summ)/orig)*100.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645920"/>
            <a:ext cx="2560320" cy="2926080"/>
          </a:xfrm>
          <a:prstGeom prst="roundRect">
            <a:avLst/>
          </a:prstGeom>
          <a:solidFill>
            <a:srgbClr val="172036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 rIns="182880"/>
          <a:lstStyle/>
          <a:p>
            <a:pPr algn="ctr">
              <a:spcAft>
                <a:spcPts val="1000"/>
              </a:spcAft>
              <a:defRPr sz="1300" b="1">
                <a:solidFill>
                  <a:srgbClr val="F59E0B"/>
                </a:solidFill>
              </a:defRPr>
            </a:pPr>
            <a:r>
              <a:t>4. Delivery &amp; Export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Renders structured notes, high-yield bullet takeaways, and facilitates one-click export (Copy / TXT).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46320"/>
            <a:ext cx="10698480" cy="1371600"/>
          </a:xfrm>
          <a:prstGeom prst="roundRect">
            <a:avLst/>
          </a:prstGeom>
          <a:solidFill>
            <a:srgbClr val="1C2844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600"/>
              </a:spcAft>
              <a:defRPr sz="1100" b="1">
                <a:solidFill>
                  <a:srgbClr val="06B6D4"/>
                </a:solidFill>
              </a:defRPr>
            </a:pPr>
            <a:r>
              <a:t>CORE TECHNOLOGY STACK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AI / NLP Models: Hugging Face Transformers Pipeline, BART-large-CNN, FLAN-T5, Pre-trained Inference API</a:t>
            </a:r>
            <a:br/>
            <a:r>
              <a:t>• Programming Language: Python 3.11, Requests, JSON, Regex, Python-PPTX</a:t>
            </a:r>
            <a:br/>
            <a:r>
              <a:t>• Web Application: HTML5, CSS3 Glassmorphism UI, Responsive Grid, ES6+ JavaScript</a:t>
            </a:r>
            <a:br/>
            <a:r>
              <a:t>• Deployment: Netlify / Vercel Serverless Platform with continuous availability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●  03. TESTING &amp; PERFORMANCE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Experimental Results &amp; Quality Evaluation (3 Test Cases)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560320"/>
                <a:gridCol w="1371600"/>
                <a:gridCol w="1463040"/>
                <a:gridCol w="1645920"/>
                <a:gridCol w="256032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Test #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Academic Domain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Original Words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Summary Words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Reduction %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Quality Rating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Case 1</a:t>
                      </a:r>
                    </a:p>
                  </a:txBody>
                  <a:tcPr>
                    <a:solidFill>
                      <a:srgbClr val="1720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AI in Healthcare Diagnostics</a:t>
                      </a:r>
                    </a:p>
                  </a:txBody>
                  <a:tcPr>
                    <a:solidFill>
                      <a:srgbClr val="17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104 words</a:t>
                      </a:r>
                    </a:p>
                  </a:txBody>
                  <a:tcPr>
                    <a:solidFill>
                      <a:srgbClr val="17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70 words</a:t>
                      </a:r>
                    </a:p>
                  </a:txBody>
                  <a:tcPr>
                    <a:solidFill>
                      <a:srgbClr val="17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32.69%</a:t>
                      </a:r>
                    </a:p>
                  </a:txBody>
                  <a:tcPr>
                    <a:solidFill>
                      <a:srgbClr val="1720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High Relevance &amp; Coherence</a:t>
                      </a:r>
                    </a:p>
                  </a:txBody>
                  <a:tcPr>
                    <a:solidFill>
                      <a:srgbClr val="1720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Case 2</a:t>
                      </a:r>
                    </a:p>
                  </a:txBody>
                  <a:tcPr>
                    <a:solidFill>
                      <a:srgbClr val="1C28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Renewable Energy Transition</a:t>
                      </a:r>
                    </a:p>
                  </a:txBody>
                  <a:tcPr>
                    <a:solidFill>
                      <a:srgbClr val="1C28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95 words</a:t>
                      </a:r>
                    </a:p>
                  </a:txBody>
                  <a:tcPr>
                    <a:solidFill>
                      <a:srgbClr val="1C28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72 words</a:t>
                      </a:r>
                    </a:p>
                  </a:txBody>
                  <a:tcPr>
                    <a:solidFill>
                      <a:srgbClr val="1C28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24.21%</a:t>
                      </a:r>
                    </a:p>
                  </a:txBody>
                  <a:tcPr>
                    <a:solidFill>
                      <a:srgbClr val="1C284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High Relevance &amp; Coherence</a:t>
                      </a:r>
                    </a:p>
                  </a:txBody>
                  <a:tcPr>
                    <a:solidFill>
                      <a:srgbClr val="1C28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Case 3</a:t>
                      </a:r>
                    </a:p>
                  </a:txBody>
                  <a:tcPr>
                    <a:solidFill>
                      <a:srgbClr val="1720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Quantum Computing Principles</a:t>
                      </a:r>
                    </a:p>
                  </a:txBody>
                  <a:tcPr>
                    <a:solidFill>
                      <a:srgbClr val="17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101 words</a:t>
                      </a:r>
                    </a:p>
                  </a:txBody>
                  <a:tcPr>
                    <a:solidFill>
                      <a:srgbClr val="17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62 words</a:t>
                      </a:r>
                    </a:p>
                  </a:txBody>
                  <a:tcPr>
                    <a:solidFill>
                      <a:srgbClr val="1720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38.61%</a:t>
                      </a:r>
                    </a:p>
                  </a:txBody>
                  <a:tcPr>
                    <a:solidFill>
                      <a:srgbClr val="1720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High Relevance &amp; Coherence</a:t>
                      </a:r>
                    </a:p>
                  </a:txBody>
                  <a:tcPr>
                    <a:solidFill>
                      <a:srgbClr val="17203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3931920"/>
            <a:ext cx="10698480" cy="2286000"/>
          </a:xfrm>
          <a:prstGeom prst="roundRect">
            <a:avLst/>
          </a:prstGeom>
          <a:solidFill>
            <a:srgbClr val="172036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Aft>
                <a:spcPts val="600"/>
              </a:spcAft>
              <a:defRPr sz="1200" b="1">
                <a:solidFill>
                  <a:srgbClr val="06B6D4"/>
                </a:solidFill>
              </a:defRPr>
            </a:pPr>
            <a:r>
              <a:t>CRITICAL OBSERVATIONS ON SUMMARY QUALITY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Relevance Analysis: In all three domains, the model accurately captured primary concepts (e.g., deep neural networks in MRI/CT imaging, grid-scale batteries for renewable energy, and qubit superposition/entanglement for exponential speedups) without omitting critical details.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Coherence Analysis: Sentences maintained grammatical fluency, logical connectivity, and semantic clarity without hallucination or disjointed phrasing.</a:t>
            </a:r>
          </a:p>
          <a:p>
            <a:pPr>
              <a:spcAft>
                <a:spcPts val="400"/>
              </a:spcAft>
              <a:defRPr sz="1050">
                <a:solidFill>
                  <a:srgbClr val="F8FAFC"/>
                </a:solidFill>
              </a:defRPr>
            </a:pPr>
            <a:r>
              <a:t>• Compression Efficiency: Word count was reduced by 24% to 39% while maintaining 100% conceptual integrity, transforming bulky paragraphs into quick revision notes.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●  04. PROJECT CONCLUSION &amp;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Conclusion &amp; Live Hosted Project Link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72036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spcAft>
                <a:spcPts val="1000"/>
              </a:spcAft>
              <a:defRPr sz="1300" b="1">
                <a:solidFill>
                  <a:srgbClr val="06B6D4"/>
                </a:solidFill>
              </a:defRPr>
            </a:pPr>
            <a:r>
              <a:t>PROJECT SUMMARY &amp; HIGHLIGHTS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✔ Academic Goals Met: Successfully developed and evaluated a Generative AI application for study paragraph summarization and key point extraction.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✔ Analytical Transparency: Original and summary word counts, along with percentage reduction metrics, provide objective measures of summarization effectiveness.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✔ Robust Architecture: Incorporated pre-trained AI pipeline models with resilient fallback handling for guaranteed 100% operational uptime.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✔ Future Scope: Integration of multi-language translation, PDF/eBook ingestion, and automated flashcard generation for spaced repetition.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480560"/>
          </a:xfrm>
          <a:prstGeom prst="roundRect">
            <a:avLst/>
          </a:prstGeom>
          <a:solidFill>
            <a:srgbClr val="172036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 rIns="320040"/>
          <a:lstStyle/>
          <a:p>
            <a:pPr algn="ctr">
              <a:spcAft>
                <a:spcPts val="1200"/>
              </a:spcAft>
              <a:defRPr sz="1400" b="1">
                <a:solidFill>
                  <a:srgbClr val="10B981"/>
                </a:solidFill>
              </a:defRPr>
            </a:pPr>
            <a:r>
              <a:t>LIVE HOSTED APPLICATION LINK</a:t>
            </a:r>
          </a:p>
          <a:p>
            <a:pPr>
              <a:spcAft>
                <a:spcPts val="1400"/>
              </a:spcAft>
              <a:defRPr sz="1150">
                <a:solidFill>
                  <a:srgbClr val="94A3B8"/>
                </a:solidFill>
              </a:defRPr>
            </a:pPr>
            <a:r>
              <a:t>The Smart Study Notes Generator is hosted live and accessible globally:</a:t>
            </a:r>
          </a:p>
          <a:p>
            <a:pPr>
              <a:spcBef>
                <a:spcPts val="8000"/>
              </a:spcBef>
              <a:defRPr sz="1100">
                <a:solidFill>
                  <a:srgbClr val="F8FAFC"/>
                </a:solidFill>
              </a:defRPr>
            </a:pPr>
            <a:r>
              <a:t>Deployment Details:</a:t>
            </a:r>
            <a:br/>
            <a:r>
              <a:t>• Platform: Netlify / Vercel Cloud</a:t>
            </a:r>
            <a:br/>
            <a:r>
              <a:t>• Uptime: 24/7 Live Web Access</a:t>
            </a:r>
            <a:br/>
            <a:r>
              <a:t>• Responsive: Compatible with Desktop &amp; Mobile Devices</a:t>
            </a:r>
            <a:br/>
            <a:r>
              <a:t>• Evaluation Ready: Open link in any browser to test interactively.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2926080"/>
            <a:ext cx="4572000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B0F19"/>
                </a:solidFill>
              </a:defRPr>
            </a:pPr>
            <a:r>
              <a:t>LIVE HOSTED APPLICATION LINK:</a:t>
            </a:r>
            <a:br/>
            <a:r>
              <a:t>https://smart-study-notes-gen.netlify.app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